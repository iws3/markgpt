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5" r:id="rId11"/>
    <p:sldId id="264" r:id="rId12"/>
    <p:sldId id="266" r:id="rId13"/>
    <p:sldId id="267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1" autoAdjust="0"/>
    <p:restoredTop sz="94660"/>
  </p:normalViewPr>
  <p:slideViewPr>
    <p:cSldViewPr snapToGrid="0" showGuides="1">
      <p:cViewPr varScale="1">
        <p:scale>
          <a:sx n="53" d="100"/>
          <a:sy n="53" d="100"/>
        </p:scale>
        <p:origin x="180" y="5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7" Type="http://schemas.openxmlformats.org/officeDocument/2006/relationships/tableStyles" Target="tableStyles.xml"/><Relationship Id="rId16" Type="http://schemas.openxmlformats.org/officeDocument/2006/relationships/viewProps" Target="viewProps.xml"/><Relationship Id="rId15" Type="http://schemas.openxmlformats.org/officeDocument/2006/relationships/presProps" Target="presProps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ctrTitle"/>
          </p:nvPr>
        </p:nvSpPr>
        <p:spPr>
          <a:xfrm>
            <a:off x="2063751" y="1701800"/>
            <a:ext cx="9211733" cy="1082675"/>
          </a:xfrm>
        </p:spPr>
        <p:txBody>
          <a:bodyPr/>
          <a:lstStyle>
            <a:lvl1pPr algn="r">
              <a:defRPr/>
            </a:lvl1pPr>
          </a:lstStyle>
          <a:p>
            <a:pPr lvl="0"/>
            <a:r>
              <a:rPr lang="en-US" altLang="zh-CN" noProof="0" smtClean="0"/>
              <a:t>Click to edit Master title style</a:t>
            </a:r>
            <a:endParaRPr lang="en-US" altLang="zh-CN" noProof="0" smtClean="0"/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2063751" y="2927350"/>
            <a:ext cx="9218083" cy="1752600"/>
          </a:xfrm>
        </p:spPr>
        <p:txBody>
          <a:bodyPr/>
          <a:lstStyle>
            <a:lvl1pPr marL="0" indent="0" algn="r">
              <a:buFontTx/>
              <a:buNone/>
              <a:defRPr/>
            </a:lvl1pPr>
          </a:lstStyle>
          <a:p>
            <a:pPr lvl="0"/>
            <a:r>
              <a:rPr lang="en-US" altLang="zh-CN" noProof="0" smtClean="0"/>
              <a:t>Click to edit Master subtitle style</a:t>
            </a:r>
            <a:endParaRPr lang="en-US" altLang="zh-CN" noProof="0" smtClean="0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endParaRPr lang="en-US"/>
          </a:p>
        </p:txBody>
      </p:sp>
      <p:sp>
        <p:nvSpPr>
          <p:cNvPr id="1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1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1" y="4589463"/>
            <a:ext cx="105156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174750"/>
            <a:ext cx="5384800" cy="49530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40317" y="1681163"/>
            <a:ext cx="5158316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40317" y="2505075"/>
            <a:ext cx="5158316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71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71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717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40317" y="457200"/>
            <a:ext cx="393276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717" y="987425"/>
            <a:ext cx="617220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40317" y="2057400"/>
            <a:ext cx="393276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190500"/>
            <a:ext cx="2743200" cy="59372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90500"/>
            <a:ext cx="8026400" cy="59372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Ovr>
    <a:masterClrMapping/>
  </p:clrMapOvr>
  <p:hf sldNum="0" hdr="0" ft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image" Target="../media/image2.jpeg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1026" name="Picture 3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-8467" y="0"/>
            <a:ext cx="12200467" cy="6858000"/>
          </a:xfrm>
          <a:prstGeom prst="rect">
            <a:avLst/>
          </a:prstGeom>
          <a:noFill/>
          <a:ln w="9525">
            <a:noFill/>
          </a:ln>
        </p:spPr>
      </p:pic>
      <p:sp>
        <p:nvSpPr>
          <p:cNvPr id="1027" name="Rectangle 3"/>
          <p:cNvSpPr>
            <a:spLocks noGrp="1"/>
          </p:cNvSpPr>
          <p:nvPr>
            <p:ph type="title"/>
          </p:nvPr>
        </p:nvSpPr>
        <p:spPr>
          <a:xfrm>
            <a:off x="609600" y="190500"/>
            <a:ext cx="10972800" cy="582613"/>
          </a:xfrm>
          <a:prstGeom prst="rect">
            <a:avLst/>
          </a:prstGeom>
          <a:noFill/>
          <a:ln w="9525">
            <a:noFill/>
          </a:ln>
        </p:spPr>
        <p:txBody>
          <a:bodyPr anchor="ctr" anchorCtr="0"/>
          <a:p>
            <a:pPr lvl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8" name="Rectangle 4"/>
          <p:cNvSpPr>
            <a:spLocks noGrp="1"/>
          </p:cNvSpPr>
          <p:nvPr>
            <p:ph type="body" idx="1"/>
          </p:nvPr>
        </p:nvSpPr>
        <p:spPr>
          <a:xfrm>
            <a:off x="609600" y="1174750"/>
            <a:ext cx="10972800" cy="49530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/>
            <a:r>
              <a:rPr lang="en-US" altLang="zh-CN" dirty="0"/>
              <a:t>Second level</a:t>
            </a:r>
            <a:endParaRPr lang="en-US" altLang="zh-CN" dirty="0"/>
          </a:p>
          <a:p>
            <a:pPr lvl="2"/>
            <a:r>
              <a:rPr lang="en-US" altLang="zh-CN" dirty="0"/>
              <a:t>Third level</a:t>
            </a:r>
            <a:endParaRPr lang="en-US" altLang="zh-CN" dirty="0"/>
          </a:p>
          <a:p>
            <a:pPr lvl="3"/>
            <a:r>
              <a:rPr lang="en-US" altLang="zh-CN" dirty="0"/>
              <a:t>Fourth level</a:t>
            </a:r>
            <a:endParaRPr lang="en-US" altLang="zh-CN" dirty="0"/>
          </a:p>
          <a:p>
            <a:pPr lvl="4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09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>
              <a:defRPr sz="1400"/>
            </a:lvl1pPr>
          </a:lstStyle>
          <a:p>
            <a:fld id="{63A1C593-65D0-4073-BCC9-577B9352EA97}" type="datetimeFigureOut">
              <a:rPr lang="en-US" smtClean="0"/>
            </a:fld>
            <a:endParaRPr lang="en-US"/>
          </a:p>
        </p:txBody>
      </p:sp>
      <p:sp>
        <p:nvSpPr>
          <p:cNvPr id="1030" name="Rectangle 6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4165600" y="6245225"/>
            <a:ext cx="3860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ctr">
              <a:defRPr sz="1400"/>
            </a:lvl1pPr>
          </a:lstStyle>
          <a:p>
            <a:endParaRPr lang="en-US"/>
          </a:p>
        </p:txBody>
      </p:sp>
      <p:sp>
        <p:nvSpPr>
          <p:cNvPr id="1031" name="Rectangle 7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5225"/>
            <a:ext cx="2844800" cy="476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/>
          <a:lstStyle>
            <a:lvl1pPr algn="r">
              <a:defRPr sz="1400"/>
            </a:lvl1pPr>
          </a:lstStyle>
          <a:p>
            <a:fld id="{9B618960-8005-486C-9A75-10CB2AAC16F9}" type="slidenum">
              <a:rPr lang="en-US" smtClean="0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3600" kern="1200">
          <a:solidFill>
            <a:schemeClr val="tx1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2pPr>
      <a:lvl3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3pPr>
      <a:lvl4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4pPr>
      <a:lvl5pPr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1"/>
          </a:solidFill>
          <a:latin typeface="Arial" panose="020B0704020202020204" pitchFamily="34" charset="0"/>
          <a:ea typeface="SimSun" pitchFamily="2" charset="-122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7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p>
            <a:r>
              <a:rPr lang="en-US"/>
              <a:t>UNSUPERVISED LEARNING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p>
            <a:r>
              <a:rPr lang="en-US"/>
              <a:t>Density Based Spacial Clustering of Applications with Noise</a:t>
            </a:r>
            <a:endParaRPr lang="en-US"/>
          </a:p>
          <a:p>
            <a:r>
              <a:rPr lang="en-US"/>
              <a:t>(DBSCAN)</a:t>
            </a:r>
            <a:endParaRPr 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What is unsupervised learning?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It is a ML technique in which the machine is trained using information that is unlabeled and allowing the algorithm to act on that information without guidance.</a:t>
            </a:r>
            <a:endParaRPr lang="en-US"/>
          </a:p>
          <a:p>
            <a:r>
              <a:rPr lang="en-US"/>
              <a:t>The machine understands the patterns and categorizes the data based on the similarities of the patterns.</a:t>
            </a:r>
            <a:endParaRPr lang="en-US"/>
          </a:p>
          <a:p>
            <a:r>
              <a:rPr lang="en-US"/>
              <a:t>The output of an unsupervised ML technique unlike a supervised ML technique is not labelled data but different clusters. </a:t>
            </a:r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What is DBSCAN?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It is an unsupervised ML algorithm that classifies points which are close together as clusters and those that are far apart to be noise or outliers. </a:t>
            </a:r>
            <a:endParaRPr lang="en-US"/>
          </a:p>
          <a:p>
            <a:r>
              <a:rPr lang="en-US" altLang="en-US"/>
              <a:t>Dense regions = clusters</a:t>
            </a:r>
            <a:endParaRPr lang="en-US" altLang="en-US"/>
          </a:p>
          <a:p>
            <a:r>
              <a:rPr lang="en-US" altLang="en-US"/>
              <a:t>Lonely points = noise</a:t>
            </a:r>
            <a:endParaRPr lang="en-US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/>
              <a:t>It solves the problem of K-mean scan which are:</a:t>
            </a: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Choosing number of clusters beforehand.</a:t>
            </a:r>
            <a:endParaRPr lang="en-US"/>
          </a:p>
          <a:p>
            <a:r>
              <a:rPr lang="en-US" altLang="en-US"/>
              <a:t>K-Means struggles with weird shapes</a:t>
            </a:r>
            <a:endParaRPr lang="en-US" altLang="en-US"/>
          </a:p>
          <a:p>
            <a:r>
              <a:rPr lang="en-US" altLang="en-US"/>
              <a:t>sensitive to outliers</a:t>
            </a:r>
            <a:endParaRPr lang="en-US" altLang="en-US"/>
          </a:p>
          <a:p>
            <a:endParaRPr lang="en-US" altLang="en-US"/>
          </a:p>
          <a:p>
            <a:pPr marL="0" indent="0">
              <a:buNone/>
            </a:pPr>
            <a:r>
              <a:rPr lang="en-US"/>
              <a:t>DBSCAN:</a:t>
            </a:r>
            <a:endParaRPr lang="en-US"/>
          </a:p>
          <a:p>
            <a:r>
              <a:rPr lang="en-US"/>
              <a:t>Automatically discovers cluster counts</a:t>
            </a:r>
            <a:endParaRPr lang="en-US"/>
          </a:p>
          <a:p>
            <a:r>
              <a:rPr lang="en-US"/>
              <a:t>Handles weird shapes</a:t>
            </a:r>
            <a:endParaRPr lang="en-US"/>
          </a:p>
          <a:p>
            <a:r>
              <a:rPr lang="en-US"/>
              <a:t>Detects outliers or noise</a:t>
            </a:r>
            <a:endParaRPr lang="en-US" altLang="en-US"/>
          </a:p>
          <a:p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/>
              <a:t>The two parameters to consider when using DBSCAN are:</a:t>
            </a: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p>
            <a:pPr marL="514350" indent="-514350">
              <a:buFont typeface="+mj-lt"/>
              <a:buAutoNum type="arabicPeriod"/>
            </a:pPr>
            <a:r>
              <a:rPr lang="en-US" b="1"/>
              <a:t>Epsilon:</a:t>
            </a:r>
            <a:endParaRPr lang="en-US" b="1"/>
          </a:p>
          <a:p>
            <a:pPr marL="0" indent="0">
              <a:buNone/>
            </a:pPr>
            <a:r>
              <a:rPr lang="en-US"/>
              <a:t>It says how close should points be to be considered neighbours. It defines the neighborhood radius. It controls what “close together” means.</a:t>
            </a:r>
            <a:endParaRPr lang="en-US"/>
          </a:p>
          <a:p>
            <a:pPr marL="0" indent="0">
              <a:buNone/>
            </a:pPr>
            <a:r>
              <a:rPr lang="en-US"/>
              <a:t>Note:</a:t>
            </a:r>
            <a:endParaRPr lang="en-US"/>
          </a:p>
          <a:p>
            <a:r>
              <a:rPr lang="en-US"/>
              <a:t>There is no universal formula that gives the perfect eps.</a:t>
            </a:r>
            <a:endParaRPr lang="en-US"/>
          </a:p>
          <a:p>
            <a:r>
              <a:rPr lang="en-US"/>
              <a:t>Choosing a too small eps will cause many tiny clusters.</a:t>
            </a:r>
            <a:endParaRPr lang="en-US"/>
          </a:p>
          <a:p>
            <a:r>
              <a:rPr lang="en-US"/>
              <a:t>Choosing a too large eps will cause everything to be in one cluster</a:t>
            </a:r>
            <a:endParaRPr lang="en-US"/>
          </a:p>
          <a:p>
            <a:r>
              <a:rPr lang="en-US"/>
              <a:t>If d &lt;= eps, then same cluster</a:t>
            </a:r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pPr marL="0" indent="0"/>
            <a:r>
              <a:rPr lang="en-US" sz="2800" b="1">
                <a:latin typeface="Arial" panose="020B0704020202020204" pitchFamily="34" charset="0"/>
                <a:cs typeface="Arial" panose="020B0704020202020204" pitchFamily="34" charset="0"/>
              </a:rPr>
              <a:t>2.  MinPts:</a:t>
            </a:r>
            <a:endParaRPr lang="en-US" sz="2800" b="1">
              <a:latin typeface="Arial" panose="020B0704020202020204" pitchFamily="34" charset="0"/>
              <a:cs typeface="Arial" panose="020B0704020202020204" pitchFamily="34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en-US"/>
                  <a:t>It shows how many nearby points are needed to form a dense region which will eventually be a cluster, ie, the min amount of points close by to be considered a cluster.</a:t>
                </a:r>
                <a:endParaRPr lang="en-US"/>
              </a:p>
              <a:p>
                <a:r>
                  <a:rPr lang="en-US"/>
                  <a:t>A common rule:</a:t>
                </a:r>
                <a:br>
                  <a:rPr lang="en-US"/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min</m:t>
                      </m:r>
                      <m:r>
                        <a:rPr lang="en-US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_</m:t>
                      </m:r>
                      <m:r>
                        <m:rPr>
                          <m:sty m:val="p"/>
                        </m:rPr>
                        <a:rPr lang="en-US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pts</m:t>
                      </m:r>
                      <m:r>
                        <a:rPr lang="en-US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≥ </m:t>
                      </m:r>
                      <m:r>
                        <m:rPr>
                          <m:sty m:val="p"/>
                        </m:rPr>
                        <a:rPr lang="en-US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dimension</m:t>
                      </m:r>
                      <m:r>
                        <a:rPr lang="en-US">
                          <a:latin typeface="DejaVu Math TeX Gyre" panose="02000503000000000000" charset="0"/>
                          <a:cs typeface="DejaVu Math TeX Gyre" panose="02000503000000000000" charset="0"/>
                        </a:rPr>
                        <m:t> + 1</m:t>
                      </m:r>
                    </m:oMath>
                  </m:oMathPara>
                </a14:m>
                <a:endParaRPr lang="en-US"/>
              </a:p>
              <a:p>
                <a:pPr marL="0" indent="0">
                  <a:buNone/>
                </a:pPr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/>
              <a:t>Points are classified into 3 types, namely:</a:t>
            </a: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Core Points:</a:t>
            </a:r>
            <a:br>
              <a:rPr lang="en-US"/>
            </a:br>
            <a:r>
              <a:rPr lang="en-US"/>
              <a:t>It has enough nearby neighbors, i.e It is the heart of the cluster.</a:t>
            </a:r>
            <a:endParaRPr lang="en-US"/>
          </a:p>
          <a:p>
            <a:r>
              <a:rPr lang="en-US"/>
              <a:t>Border Points:</a:t>
            </a:r>
            <a:br>
              <a:rPr lang="en-US"/>
            </a:br>
            <a:r>
              <a:rPr lang="en-US"/>
              <a:t>They are close to the core points but do not have enough neighbors themselves.</a:t>
            </a:r>
            <a:endParaRPr lang="en-US"/>
          </a:p>
          <a:p>
            <a:r>
              <a:rPr lang="en-US"/>
              <a:t>Noise points:</a:t>
            </a:r>
            <a:br>
              <a:rPr lang="en-US"/>
            </a:br>
            <a:r>
              <a:rPr lang="en-US"/>
              <a:t>They are isolated, not dense enough and not near a core point. Usually enoted by -1.</a:t>
            </a:r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/>
              <a:t>Step - by - step DBSCAN process</a:t>
            </a:r>
            <a:endParaRPr lang="en-US" sz="280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en-US"/>
                  <a:t>Pick a random point</a:t>
                </a:r>
                <a:endParaRPr lang="en-US"/>
              </a:p>
              <a:p>
                <a:r>
                  <a:rPr lang="en-US"/>
                  <a:t>Look around within eps radius</a:t>
                </a:r>
                <a:endParaRPr lang="en-US"/>
              </a:p>
              <a:p>
                <a:r>
                  <a:rPr lang="en-US"/>
                  <a:t>Count nearby points.</a:t>
                </a:r>
                <a:br>
                  <a:rPr lang="en-US"/>
                </a:br>
                <a:r>
                  <a:rPr lang="en-US"/>
                  <a:t>If nearby point </a:t>
                </a:r>
                <a14:m>
                  <m:oMath xmlns:m="http://schemas.openxmlformats.org/officeDocument/2006/math">
                    <m:r>
                      <a:rPr 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≥</m:t>
                    </m:r>
                  </m:oMath>
                </a14:m>
                <a:r>
                  <a:rPr lang="en-US"/>
                  <a:t> min_pts, then create a cluster, else temporarily mark as noise.</a:t>
                </a:r>
                <a:endParaRPr lang="en-US"/>
              </a:p>
              <a:p>
                <a:r>
                  <a:rPr lang="en-US"/>
                  <a:t>Expand clusters:</a:t>
                </a:r>
                <a:br>
                  <a:rPr lang="en-US"/>
                </a:br>
                <a:r>
                  <a:rPr lang="en-US"/>
                  <a:t>Check the neighbors of neighbors if they are dense too. Keep expanding, this creates natural cluster shapes.    </a:t>
                </a:r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 sz="2800"/>
              <a:t>Consider the points below,</a:t>
            </a:r>
            <a:endParaRPr lang="en-US" sz="280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A(1, 2) B(2, 1) C(2, 3) D(3, 2) E(8, 8) F(9, 8) G(8, 9) H(9, 9) </a:t>
            </a:r>
            <a:br>
              <a:rPr lang="en-US"/>
            </a:br>
            <a:r>
              <a:rPr lang="en-US"/>
              <a:t>I(25, 80)</a:t>
            </a:r>
            <a:endParaRPr lang="en-US"/>
          </a:p>
          <a:p>
            <a:r>
              <a:rPr lang="en-US"/>
              <a:t>Use the above steps to determine the clusters with the help of eps and min_pts, and if there is any noise or outlier point.</a:t>
            </a:r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Real life applications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/>
              <a:t>Fraud Detection: Unusual transactions become noise.</a:t>
            </a:r>
            <a:endParaRPr lang="en-US"/>
          </a:p>
          <a:p>
            <a:r>
              <a:rPr lang="en-US"/>
              <a:t>Social Networking: Grouping users with similar behavior.</a:t>
            </a:r>
            <a:endParaRPr lang="en-US"/>
          </a:p>
          <a:p>
            <a:r>
              <a:rPr lang="en-US"/>
              <a:t>GPS/ Maps</a:t>
            </a:r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r>
              <a:rPr lang="en-US"/>
              <a:t>Evaluating the DBSCAN model</a:t>
            </a:r>
            <a:endParaRPr lang="en-US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Content Placeholder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p>
                <a:r>
                  <a:rPr lang="en-US"/>
                  <a:t>Silhouette Score:</a:t>
                </a:r>
                <a:br>
                  <a:rPr lang="en-US"/>
                </a:br>
                <a:r>
                  <a:rPr lang="en-US"/>
                  <a:t>It is the most common way to evaluate a DBSCAN model.</a:t>
                </a:r>
                <a:br>
                  <a:rPr lang="en-US"/>
                </a:br>
                <a:r>
                  <a:rPr lang="en-US"/>
                  <a:t>1 -&gt; excellent clustering</a:t>
                </a:r>
                <a:br>
                  <a:rPr lang="en-US"/>
                </a:br>
                <a:r>
                  <a:rPr lang="en-US"/>
                  <a:t>0 -&gt; overlapping clusters</a:t>
                </a:r>
                <a:br>
                  <a:rPr lang="en-US"/>
                </a:br>
                <a:r>
                  <a:rPr lang="en-US"/>
                  <a:t>-1 -&gt; bad clustering</a:t>
                </a:r>
                <a:endParaRPr lang="en-US"/>
              </a:p>
              <a:p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s</m:t>
                    </m:r>
                    <m: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i</m:t>
                    </m:r>
                    <m: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)=\</m:t>
                    </m:r>
                    <m:r>
                      <m:rPr>
                        <m:sty m:val="p"/>
                      </m:rP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frac</m:t>
                    </m:r>
                    <m: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{</m:t>
                    </m:r>
                    <m:r>
                      <m:rPr>
                        <m:sty m:val="p"/>
                      </m:rP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b</m:t>
                    </m:r>
                    <m: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i</m:t>
                    </m:r>
                    <m: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)−</m:t>
                    </m:r>
                    <m:r>
                      <m:rPr>
                        <m:sty m:val="p"/>
                      </m:rP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a</m:t>
                    </m:r>
                    <m: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i</m:t>
                    </m:r>
                    <m: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)}{\</m:t>
                    </m:r>
                    <m:r>
                      <m:rPr>
                        <m:sty m:val="p"/>
                      </m:rP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max</m:t>
                    </m:r>
                    <m: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a</m:t>
                    </m:r>
                    <m: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i</m:t>
                    </m:r>
                    <m: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),</m:t>
                    </m:r>
                    <m:r>
                      <m:rPr>
                        <m:sty m:val="p"/>
                      </m:rP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b</m:t>
                    </m:r>
                    <m: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(</m:t>
                    </m:r>
                    <m:r>
                      <m:rPr>
                        <m:sty m:val="p"/>
                      </m:rP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i</m:t>
                    </m:r>
                    <m:r>
                      <a:rPr lang="en-US" altLang="en-US">
                        <a:latin typeface="DejaVu Math TeX Gyre" panose="02000503000000000000" charset="0"/>
                        <a:cs typeface="DejaVu Math TeX Gyre" panose="02000503000000000000" charset="0"/>
                      </a:rPr>
                      <m:t>))}</m:t>
                    </m:r>
                  </m:oMath>
                </a14:m>
                <a:endParaRPr lang="en-US" altLang="en-US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r>
                  <a:rPr lang="en-US" altLang="en-US">
                    <a:latin typeface="DejaVu Math TeX Gyre" panose="02000503000000000000" charset="0"/>
                    <a:cs typeface="DejaVu Math TeX Gyre" panose="02000503000000000000" charset="0"/>
                  </a:rPr>
                  <a:t>a(i) average distance to poins in same cluster.</a:t>
                </a:r>
                <a:endParaRPr lang="en-US" altLang="en-US">
                  <a:latin typeface="DejaVu Math TeX Gyre" panose="02000503000000000000" charset="0"/>
                  <a:cs typeface="DejaVu Math TeX Gyre" panose="02000503000000000000" charset="0"/>
                </a:endParaRPr>
              </a:p>
              <a:p>
                <a:r>
                  <a:rPr lang="en-US" altLang="en-US">
                    <a:latin typeface="DejaVu Math TeX Gyre" panose="02000503000000000000" charset="0"/>
                    <a:cs typeface="DejaVu Math TeX Gyre" panose="02000503000000000000" charset="0"/>
                  </a:rPr>
                  <a:t>b(i) average distance to nearest other cluster.</a:t>
                </a:r>
                <a:endParaRPr lang="en-US" altLang="en-US"/>
              </a:p>
              <a:p>
                <a:endParaRPr lang="en-US"/>
              </a:p>
            </p:txBody>
          </p:sp>
        </mc:Choice>
        <mc:Fallback>
          <p:sp>
            <p:nvSpPr>
              <p:cNvPr id="3" name="Content Placeholder 2"/>
              <p:cNvSpPr>
                <a:spLocks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 rotWithShape="1">
                <a:blip r:embed="rId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 alt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p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p>
            <a:r>
              <a:rPr lang="en-US" altLang="en-US"/>
              <a:t>A supermarket wants to discover groups of customers based on:</a:t>
            </a:r>
            <a:br>
              <a:rPr lang="en-US" altLang="en-US"/>
            </a:br>
            <a:r>
              <a:rPr lang="en-US" altLang="en-US"/>
              <a:t>Annual income, Spending score</a:t>
            </a:r>
            <a:endParaRPr lang="en-US" altLang="en-US"/>
          </a:p>
          <a:p>
            <a:r>
              <a:rPr lang="en-US" altLang="en-US"/>
              <a:t>With an eps of 1.5 and a min_pts of 5 use the DBSCAN algorithm to train this model</a:t>
            </a:r>
            <a:endParaRPr lang="en-US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Gear Drives">
  <a:themeElements>
    <a:clrScheme name="Gear Drives 13">
      <a:dk1>
        <a:srgbClr val="000000"/>
      </a:dk1>
      <a:lt1>
        <a:srgbClr val="FFFFFF"/>
      </a:lt1>
      <a:dk2>
        <a:srgbClr val="000000"/>
      </a:dk2>
      <a:lt2>
        <a:srgbClr val="969696"/>
      </a:lt2>
      <a:accent1>
        <a:srgbClr val="5F5F5F"/>
      </a:accent1>
      <a:accent2>
        <a:srgbClr val="969696"/>
      </a:accent2>
      <a:accent3>
        <a:srgbClr val="FFFFFF"/>
      </a:accent3>
      <a:accent4>
        <a:srgbClr val="000000"/>
      </a:accent4>
      <a:accent5>
        <a:srgbClr val="B6B6B6"/>
      </a:accent5>
      <a:accent6>
        <a:srgbClr val="878787"/>
      </a:accent6>
      <a:hlink>
        <a:srgbClr val="CC3300"/>
      </a:hlink>
      <a:folHlink>
        <a:srgbClr val="996600"/>
      </a:folHlink>
    </a:clrScheme>
    <a:fontScheme name="Gear Drives">
      <a:majorFont>
        <a:latin typeface="Arial"/>
        <a:ea typeface="SimSun"/>
        <a:cs typeface=""/>
      </a:majorFont>
      <a:minorFont>
        <a:latin typeface="Arial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704020202020204" pitchFamily="34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gradFill rotWithShape="0">
          <a:gsLst>
            <a:gs pos="0">
              <a:schemeClr val="accent1"/>
            </a:gs>
            <a:gs pos="100000">
              <a:schemeClr val="accent2"/>
            </a:gs>
          </a:gsLst>
          <a:lin ang="5400000" scaled="1"/>
        </a:gradFill>
        <a:ln w="9525" cap="flat" cmpd="sng" algn="ctr">
          <a:solidFill>
            <a:schemeClr val="accent1"/>
          </a:solidFill>
          <a:prstDash val="solid"/>
          <a:round/>
          <a:headEnd type="none" w="med" len="med"/>
          <a:tailEnd type="none" w="med" len="med"/>
        </a:ln>
      </a:spPr>
      <a:bodyPr vert="horz" wrap="none" lIns="91440" tIns="45720" rIns="91440" bIns="45720" numCol="1" anchor="ctr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zh-CN" altLang="en-US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anose="020B0704020202020204" pitchFamily="34" charset="0"/>
            <a:ea typeface="SimSun" pitchFamily="2" charset="-122"/>
          </a:defRPr>
        </a:defPPr>
      </a:lstStyle>
    </a:lnDef>
  </a:objectDefaults>
  <a:extraClrSchemeLst>
    <a:extraClrScheme>
      <a:clrScheme name="Gear Drives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Gear Drives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Gear Drives 13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5F5F5F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B6B6B6"/>
        </a:accent5>
        <a:accent6>
          <a:srgbClr val="878787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3036</Words>
  <Application>WPS Presentation</Application>
  <PresentationFormat>Widescreen</PresentationFormat>
  <Paragraphs>80</Paragraphs>
  <Slides>12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12</vt:i4>
      </vt:variant>
    </vt:vector>
  </HeadingPairs>
  <TitlesOfParts>
    <vt:vector size="24" baseType="lpstr">
      <vt:lpstr>Arial</vt:lpstr>
      <vt:lpstr>SimSun</vt:lpstr>
      <vt:lpstr>Wingdings</vt:lpstr>
      <vt:lpstr>DejaVu Math TeX Gyre</vt:lpstr>
      <vt:lpstr>Calibri Light</vt:lpstr>
      <vt:lpstr>Helvetica Neue</vt:lpstr>
      <vt:lpstr>Calibri</vt:lpstr>
      <vt:lpstr>Microsoft YaHei</vt:lpstr>
      <vt:lpstr>汉仪旗黑</vt:lpstr>
      <vt:lpstr>Arial Unicode MS</vt:lpstr>
      <vt:lpstr>宋体-简</vt:lpstr>
      <vt:lpstr>Gear Drives</vt:lpstr>
      <vt:lpstr>UNSUPERVISED LEARNING</vt:lpstr>
      <vt:lpstr>What is unsupervised learning?</vt:lpstr>
      <vt:lpstr>What is DBSCAN?</vt:lpstr>
      <vt:lpstr>It solves the problem of K-mean scan which are:</vt:lpstr>
      <vt:lpstr>The two parameters to consider when using DBSCAN are:</vt:lpstr>
      <vt:lpstr>2.  MinPts:</vt:lpstr>
      <vt:lpstr>Points are classified into 3 types, namely:</vt:lpstr>
      <vt:lpstr>Step - by - step DBSCAN process</vt:lpstr>
      <vt:lpstr>Consider the points below,</vt:lpstr>
      <vt:lpstr>Real life applications</vt:lpstr>
      <vt:lpstr>Evaluating the DBSCAN model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WPS Presentation</dc:title>
  <dc:creator>louisa</dc:creator>
  <cp:lastModifiedBy>louisa</cp:lastModifiedBy>
  <cp:revision>4</cp:revision>
  <dcterms:created xsi:type="dcterms:W3CDTF">2026-05-21T09:37:32Z</dcterms:created>
  <dcterms:modified xsi:type="dcterms:W3CDTF">2026-05-21T09:37:32Z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85F40BDE3D956C58EEED0D6AA8718C81_41</vt:lpwstr>
  </property>
  <property fmtid="{D5CDD505-2E9C-101B-9397-08002B2CF9AE}" pid="3" name="KSOProductBuildVer">
    <vt:lpwstr>1033-12.1.23155.23155</vt:lpwstr>
  </property>
</Properties>
</file>